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kicker-2">
            <a:extLst>
              <a:ext uri="{FF2B5EF4-FFF2-40B4-BE49-F238E27FC236}">
                <a16:creationId xmlns:a16="http://schemas.microsoft.com/office/drawing/2014/main" id="{CBF549B2-BC30-4DBD-A85E-A3F1FB67C0FB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DATA GOVERNANCE PAINPOINTS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6249C57D-27F7-45EA-A4D6-CD87348C5C6B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876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需求入口、开发拆解与链路影响</a:t>
            </a:r>
            <a:endParaRPr sz="315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ubtitle-2">
            <a:extLst>
              <a:ext uri="{FF2B5EF4-FFF2-40B4-BE49-F238E27FC236}">
                <a16:creationId xmlns:a16="http://schemas.microsoft.com/office/drawing/2014/main" id="{4AFE5951-018B-4494-8E99-FCA43867F687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这一页关注“需求怎么进来、怎么拆、怎么判断影响、怎么避免文档漂移</a:t>
            </a:r>
            <a:r>
              <a:rPr sz="1425" b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”。</a:t>
            </a:r>
          </a:p>
        </p:txBody>
      </p:sp>
      <p:sp>
        <p:nvSpPr>
          <p:cNvPr id="4" name="title-rule-2">
            <a:extLst>
              <a:ext uri="{FF2B5EF4-FFF2-40B4-BE49-F238E27FC236}">
                <a16:creationId xmlns:a16="http://schemas.microsoft.com/office/drawing/2014/main" id="{FBAE2B96-8C87-443D-8B2C-770DCC7FA4C4}"/>
              </a:ext>
            </a:extLst>
          </p:cNvPr>
          <p:cNvSpPr>
            <a:spLocks noGrp="1"/>
          </p:cNvSpPr>
          <p:nvPr/>
        </p:nvSpPr>
        <p:spPr>
          <a:xfrm>
            <a:off x="400050" y="16383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footer-2">
            <a:extLst>
              <a:ext uri="{FF2B5EF4-FFF2-40B4-BE49-F238E27FC236}">
                <a16:creationId xmlns:a16="http://schemas.microsoft.com/office/drawing/2014/main" id="{5DDF5951-6161-4198-981A-16A5369CFB6E}"/>
              </a:ext>
            </a:extLst>
          </p:cNvPr>
          <p:cNvSpPr>
            <a:spLocks noGrp="1"/>
          </p:cNvSpPr>
          <p:nvPr/>
        </p:nvSpPr>
        <p:spPr>
          <a:xfrm>
            <a:off x="11239500" y="62674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2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en-US" sz="1125" b="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sz="1125" b="0" dirty="0">
              <a:solidFill>
                <a:srgbClr val="555555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12" name="demand-lineage-table"/>
          <p:cNvGraphicFramePr/>
          <p:nvPr/>
        </p:nvGraphicFramePr>
        <p:xfrm>
          <a:off x="400050" y="1885950"/>
          <a:ext cx="11391900" cy="4057650"/>
        </p:xfrm>
        <a:graphic>
          <a:graphicData uri="http://schemas.openxmlformats.org/drawingml/2006/table">
            <a:tbl>
              <a:tblPr/>
              <a:tblGrid>
                <a:gridCol w="104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2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62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大类</a:t>
                      </a:r>
                    </a:p>
                  </a:txBody>
                  <a:tcPr marL="76200" marR="76200" marT="47625" marB="47625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痛点</a:t>
                      </a:r>
                    </a:p>
                  </a:txBody>
                  <a:tcPr marL="76200" marR="76200" marT="47625" marB="47625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应对方法</a:t>
                      </a:r>
                    </a:p>
                  </a:txBody>
                  <a:tcPr marL="76200" marR="76200" marT="47625" marB="47625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最有效工具</a:t>
                      </a:r>
                    </a:p>
                  </a:txBody>
                  <a:tcPr marL="76200" marR="76200" marT="47625" marB="47625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扩充原因</a:t>
                      </a:r>
                    </a:p>
                  </a:txBody>
                  <a:tcPr marL="76200" marR="76200" marT="47625" marB="47625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需求入口</a:t>
                      </a:r>
                    </a:p>
                  </a:txBody>
                  <a:tcPr marL="76200" marR="76200" marT="38100" marB="38100" anchor="ctr">
                    <a:solidFill>
                      <a:srgbClr val="FF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需求不完整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 Jira、Excel、邮件统一转成 proposal.md，强制补业务目标、范围、验收标准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Spec Kit + OpenSpec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需求缺口通常发生在入口阶段。Spec Kit 的 clarify/checklist 负责把缺失信息问出来；OpenSpec 负责把确认后的内容固定为后续设计、开发和验收的共同来源。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需求入口</a:t>
                      </a:r>
                    </a:p>
                  </a:txBody>
                  <a:tcPr marL="76200" marR="76200" marT="38100" marB="38100" anchor="ctr">
                    <a:solidFill>
                      <a:srgbClr val="FF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开发拆解不清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把需求拆成 SQL、Informatica、Autosys、测试、回填、上线任务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OpenSpec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拆解不清会直接导致排期和责任不清。tasks.md 可以把不同工种的交付物拆成可勾选任务，避免任务散落在会议纪要或个人待办里。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链路影响</a:t>
                      </a:r>
                    </a:p>
                  </a:txBody>
                  <a:tcPr marL="76200" marR="76200" marT="38100" marB="38100" anchor="ctr">
                    <a:solidFill>
                      <a:srgbClr val="FF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上下游影响难判断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 design.md 中强制填写源表、目标表、下游报表、调度依赖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OpenSpec + Collibra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影响面判断既需要需求上下文，也需要元数据事实。OpenSpec 记录本次变更的影响假设；Collibra 补血缘、资产责任人和依赖证据，降低漏评风险。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历史资产</a:t>
                      </a:r>
                    </a:p>
                  </a:txBody>
                  <a:tcPr marL="76200" marR="76200" marT="38100" marB="38100" anchor="ctr">
                    <a:solidFill>
                      <a:srgbClr val="FF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历史链路包袱重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不做全仓反向规格化，只在新需求中逐步补 spec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OpenSpec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成熟数据仓库很难一次性补齐历史规格。按新需求逐步补 spec 更符合 brownfield 落地方式，能先覆盖高频和高风险链路，同时避免治理项目过重。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文档一致性</a:t>
                      </a:r>
                    </a:p>
                  </a:txBody>
                  <a:tcPr marL="76200" marR="76200" marT="38100" marB="38100" anchor="ctr">
                    <a:solidFill>
                      <a:srgbClr val="FF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文档与代码脱节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spec、SQL、ETL、调度、测试证据一起进 Git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OpenSpec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文档漂移的根因是文档与实现分离。把需求、设计、任务和代码证据放在同一版本链路里，评审和回溯都能看到当时的上下文。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744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kicker-3">
            <a:extLst>
              <a:ext uri="{FF2B5EF4-FFF2-40B4-BE49-F238E27FC236}">
                <a16:creationId xmlns:a16="http://schemas.microsoft.com/office/drawing/2014/main" id="{99648D4E-2133-4855-9771-6D1357CD751C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DATA GOVERNANCE PAINPOINTS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2067CA05-0257-42CB-AE01-BE228D35502E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876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6000"/>
              </a:lnSpc>
              <a:buNone/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口径质量、上线协同与追溯</a:t>
            </a:r>
            <a:endParaRPr sz="315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ubtitle-3">
            <a:extLst>
              <a:ext uri="{FF2B5EF4-FFF2-40B4-BE49-F238E27FC236}">
                <a16:creationId xmlns:a16="http://schemas.microsoft.com/office/drawing/2014/main" id="{0EB5AE91-862C-4AD4-AD5C-5BA43C9CF26C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这一页关注“标准怎么统一、质量怎么卡住、上线和追溯怎么闭环”。</a:t>
            </a:r>
          </a:p>
        </p:txBody>
      </p:sp>
      <p:sp>
        <p:nvSpPr>
          <p:cNvPr id="4" name="title-rule-3">
            <a:extLst>
              <a:ext uri="{FF2B5EF4-FFF2-40B4-BE49-F238E27FC236}">
                <a16:creationId xmlns:a16="http://schemas.microsoft.com/office/drawing/2014/main" id="{937AC9DB-C34F-46C3-97E4-C92A3AB8BE30}"/>
              </a:ext>
            </a:extLst>
          </p:cNvPr>
          <p:cNvSpPr>
            <a:spLocks noGrp="1"/>
          </p:cNvSpPr>
          <p:nvPr/>
        </p:nvSpPr>
        <p:spPr>
          <a:xfrm>
            <a:off x="400050" y="16383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footer-3">
            <a:extLst>
              <a:ext uri="{FF2B5EF4-FFF2-40B4-BE49-F238E27FC236}">
                <a16:creationId xmlns:a16="http://schemas.microsoft.com/office/drawing/2014/main" id="{9D268047-C2E9-483B-8AEB-3B5E6DBFAD6C}"/>
              </a:ext>
            </a:extLst>
          </p:cNvPr>
          <p:cNvSpPr>
            <a:spLocks noGrp="1"/>
          </p:cNvSpPr>
          <p:nvPr/>
        </p:nvSpPr>
        <p:spPr>
          <a:xfrm>
            <a:off x="11239500" y="6267450"/>
            <a:ext cx="55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2000"/>
              </a:lnSpc>
              <a:buNone/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125" b="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125" b="0" dirty="0">
              <a:solidFill>
                <a:srgbClr val="555555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12" name="quality-release-table"/>
          <p:cNvGraphicFramePr/>
          <p:nvPr/>
        </p:nvGraphicFramePr>
        <p:xfrm>
          <a:off x="400050" y="1885950"/>
          <a:ext cx="11391900" cy="4171951"/>
        </p:xfrm>
        <a:graphic>
          <a:graphicData uri="http://schemas.openxmlformats.org/drawingml/2006/table">
            <a:tbl>
              <a:tblPr/>
              <a:tblGrid>
                <a:gridCol w="104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2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599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大类</a:t>
                      </a:r>
                    </a:p>
                  </a:txBody>
                  <a:tcPr marL="76200" marR="76200" marT="47625" marB="47625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痛点</a:t>
                      </a:r>
                    </a:p>
                  </a:txBody>
                  <a:tcPr marL="76200" marR="76200" marT="47625" marB="47625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应对方法</a:t>
                      </a:r>
                    </a:p>
                  </a:txBody>
                  <a:tcPr marL="76200" marR="76200" marT="47625" marB="47625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最有效工具</a:t>
                      </a:r>
                    </a:p>
                  </a:txBody>
                  <a:tcPr marL="76200" marR="76200" marT="47625" marB="47625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扩充原因</a:t>
                      </a:r>
                    </a:p>
                  </a:txBody>
                  <a:tcPr marL="76200" marR="76200" marT="47625" marB="47625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9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口径标准</a:t>
                      </a:r>
                    </a:p>
                  </a:txBody>
                  <a:tcPr marL="76200" marR="76200" marT="38100" marB="38100" anchor="ctr">
                    <a:solidFill>
                      <a:srgbClr val="FF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指标口径不一致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建立指标口径 checklist：公式、粒度、时间窗口、过滤、去重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Spec Kit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指标口径需要跨团队一致，不能只写在某个需求里。Spec Kit 更适合作为组织级口径门禁，保证每次需求都按同一组问题校验。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9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质量与测试</a:t>
                      </a:r>
                    </a:p>
                  </a:txBody>
                  <a:tcPr marL="76200" marR="76200" marT="38100" marB="38100" anchor="ctr">
                    <a:solidFill>
                      <a:srgbClr val="FF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测试不完整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建立验收 checklist：SQL 对账、抽样、自动化测试、业务确认、上线观察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Spec Kit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测试缺失多半不是不会测，而是没有统一验收口径。把验收项固化为 checklist，可以把技术验证、业务确认和上线观察都纳入同一门禁。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9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质量与测试</a:t>
                      </a:r>
                    </a:p>
                  </a:txBody>
                  <a:tcPr marL="76200" marR="76200" marT="38100" marB="38100" anchor="ctr">
                    <a:solidFill>
                      <a:srgbClr val="FF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数据质量问题多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 data-contract.yaml 中定义空值、唯一性、重复、波动、阈值规则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Spec Kit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质量规则需要可复用、可版本化、可审计。data-contract 把质量预期写成结构化规则，比口头约定或临时测试 SQL 更稳定。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59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上线治理</a:t>
                      </a:r>
                    </a:p>
                  </a:txBody>
                  <a:tcPr marL="76200" marR="76200" marT="38100" marB="38100" anchor="ctr">
                    <a:solidFill>
                      <a:srgbClr val="FF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上线治理重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建立上线 checklist：审批、SQL、ETL、调度、权限、回滚、观察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Spec Kit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上线治理重通常来自检查项不透明。把审批、权限、回滚和观察指标固化后，治理动作可以前置，减少上线前集中补材料。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599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协作确认</a:t>
                      </a:r>
                    </a:p>
                  </a:txBody>
                  <a:tcPr marL="76200" marR="76200" marT="38100" marB="38100" anchor="ctr">
                    <a:solidFill>
                      <a:srgbClr val="FF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跨角色协作低效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用同一份 proposal/design/checklist 让业务、开发、测试、治理、运维确认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OpenSpec + Spec Kit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低效的核心是各角色看的材料不同。OpenSpec 提供共同语境，Spec Kit 提供确认清单，让每个角色只确认与自己相关的门禁。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5993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追溯闭环</a:t>
                      </a:r>
                      <a:endParaRPr sz="1200" b="1" dirty="0">
                        <a:solidFill>
                          <a:srgbClr val="0000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76200" marR="76200" marT="38100" marB="38100" anchor="ctr">
                    <a:solidFill>
                      <a:srgbClr val="FFE2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变更追溯困难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每个需求形成 proposal → design → tasks → code → test → archive 链路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OpenSpec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 err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追溯困难不是缺少文档，而是证据链断裂。OpenSpec</a:t>
                      </a:r>
                      <a:r>
                        <a:rPr sz="1200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archive </a:t>
                      </a:r>
                      <a:r>
                        <a:rPr sz="1200" dirty="0" err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</a:t>
                      </a:r>
                      <a:r>
                        <a:rPr sz="1200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Git </a:t>
                      </a:r>
                      <a:r>
                        <a:rPr sz="1200" dirty="0" err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记录，可以回放当时为什么改、谁确认、怎么测、何时上线</a:t>
                      </a:r>
                      <a:r>
                        <a:rPr sz="1200" dirty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639411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357</Words>
  <Application>Microsoft Office PowerPoint</Application>
  <DocSecurity>0</DocSecurity>
  <PresentationFormat>宽屏</PresentationFormat>
  <Paragraphs>73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Microsoft YaHei</vt:lpstr>
      <vt:lpstr>Calibri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桢 王</cp:lastModifiedBy>
  <cp:revision>7</cp:revision>
  <dcterms:created xsi:type="dcterms:W3CDTF">2026-06-28T13:34:20Z</dcterms:created>
  <dcterms:modified xsi:type="dcterms:W3CDTF">2026-06-28T13:41:19Z</dcterms:modified>
</cp:coreProperties>
</file>